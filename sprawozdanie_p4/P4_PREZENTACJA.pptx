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4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/>
            </a:pPr>
            <a:r>
              <a:t>Projekt 4 — Artificial Bee Colony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10698480" cy="4846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  <a:defRPr sz="2000"/>
            </a:pPr>
            <a:r>
              <a:t>Optymalizacja funkcji wielu zmiennych z MealPy</a:t>
            </a:r>
          </a:p>
          <a:p>
            <a:pPr>
              <a:spcAft>
                <a:spcPts val="1200"/>
              </a:spcAft>
              <a:defRPr sz="2000"/>
            </a:pPr>
            <a:r>
              <a:t>Porównanie z algorytmami genetycznymi P1/P2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/>
            </a:pPr>
            <a:r>
              <a:t>Inspiracja biologiczna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10698480" cy="4846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  <a:defRPr sz="2000"/>
            </a:pPr>
            <a:r>
              <a:t>Kolonia pszczół poszukuje źródeł pożywienia.</a:t>
            </a:r>
          </a:p>
          <a:p>
            <a:pPr>
              <a:spcAft>
                <a:spcPts val="1200"/>
              </a:spcAft>
              <a:defRPr sz="2000"/>
            </a:pPr>
            <a:r>
              <a:t>Źródło pożywienia reprezentuje jedno rozwiązanie.</a:t>
            </a:r>
          </a:p>
          <a:p>
            <a:pPr>
              <a:spcAft>
                <a:spcPts val="1200"/>
              </a:spcAft>
              <a:defRPr sz="2000"/>
            </a:pPr>
            <a:r>
              <a:t>Jakość źródła odpowiada wartości funkcji celu.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/>
            </a:pPr>
            <a:r>
              <a:t>Trzy typy pszczół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10698480" cy="4846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  <a:defRPr sz="2000"/>
            </a:pPr>
            <a:r>
              <a:t>Pracujące: lokalnie poprawiają własne źródła.</a:t>
            </a:r>
          </a:p>
          <a:p>
            <a:pPr>
              <a:spcAft>
                <a:spcPts val="1200"/>
              </a:spcAft>
              <a:defRPr sz="2000"/>
            </a:pPr>
            <a:r>
              <a:t>Obserwujące: wybierają dobre źródła na podstawie jakości.</a:t>
            </a:r>
          </a:p>
          <a:p>
            <a:pPr>
              <a:spcAft>
                <a:spcPts val="1200"/>
              </a:spcAft>
              <a:defRPr sz="2000"/>
            </a:pPr>
            <a:r>
              <a:t>Zwiadowcze: losują nowe źródła po przekroczeniu limitu prób.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/>
            </a:pPr>
            <a:r>
              <a:t>Pseudokod ABC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10698480" cy="4846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  <a:defRPr sz="2000"/>
            </a:pPr>
            <a:r>
              <a:t>1. Utwórz populację źródeł.</a:t>
            </a:r>
          </a:p>
          <a:p>
            <a:pPr>
              <a:spcAft>
                <a:spcPts val="1200"/>
              </a:spcAft>
              <a:defRPr sz="2000"/>
            </a:pPr>
            <a:r>
              <a:t>2. Wykonuj lokalne przeszukiwanie i selekcję lepszych źródeł.</a:t>
            </a:r>
          </a:p>
          <a:p>
            <a:pPr>
              <a:spcAft>
                <a:spcPts val="1200"/>
              </a:spcAft>
              <a:defRPr sz="2000"/>
            </a:pPr>
            <a:r>
              <a:t>3. Porzucone źródła zastępuj losowymi zwiadowcami.</a:t>
            </a:r>
          </a:p>
          <a:p>
            <a:pPr>
              <a:spcAft>
                <a:spcPts val="1200"/>
              </a:spcAft>
              <a:defRPr sz="2000"/>
            </a:pPr>
            <a:r>
              <a:t>4. Zapamiętaj najlepsze rozwiązanie.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/>
            </a:pPr>
            <a:r>
              <a:t>Przykład analityczny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10698480" cy="4846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  <a:defRPr sz="2000"/>
            </a:pPr>
            <a:r>
              <a:t>Źródło x=(2,4), sąsiad x'=(2.5,3.5).</a:t>
            </a:r>
          </a:p>
          <a:p>
            <a:pPr>
              <a:spcAft>
                <a:spcPts val="1200"/>
              </a:spcAft>
              <a:defRPr sz="2000"/>
            </a:pPr>
            <a:r>
              <a:t>Obliczamy f(x) i f(x').</a:t>
            </a:r>
          </a:p>
          <a:p>
            <a:pPr>
              <a:spcAft>
                <a:spcPts val="1200"/>
              </a:spcAft>
              <a:defRPr sz="2000"/>
            </a:pPr>
            <a:r>
              <a:t>Jeśli f(x') &lt; f(x), sąsiad zastępuje źródło.</a:t>
            </a:r>
          </a:p>
          <a:p>
            <a:pPr>
              <a:spcAft>
                <a:spcPts val="1200"/>
              </a:spcAft>
              <a:defRPr sz="2000"/>
            </a:pPr>
            <a:r>
              <a:t>Brak poprawy przez n_limits uruchamia pszczołę zwiadowczą.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/>
            </a:pPr>
            <a:r>
              <a:t>Funkcje testowe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10698480" cy="4846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  <a:defRPr sz="2000"/>
            </a:pPr>
            <a:r>
              <a:t>Ackley 01</a:t>
            </a:r>
          </a:p>
          <a:p>
            <a:pPr>
              <a:spcAft>
                <a:spcPts val="1200"/>
              </a:spcAft>
              <a:defRPr sz="2000"/>
            </a:pPr>
            <a:r>
              <a:t>Hyperellipsoid</a:t>
            </a:r>
          </a:p>
          <a:p>
            <a:pPr>
              <a:spcAft>
                <a:spcPts val="1200"/>
              </a:spcAft>
              <a:defRPr sz="2000"/>
            </a:pPr>
            <a:r>
              <a:t>CEC2014 F1 i F3</a:t>
            </a:r>
          </a:p>
          <a:p>
            <a:pPr>
              <a:spcAft>
                <a:spcPts val="1200"/>
              </a:spcAft>
              <a:defRPr sz="2000"/>
            </a:pPr>
            <a:r>
              <a:t>Funkcja kwadratowa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/>
            </a:pPr>
            <a:r>
              <a:t>Konfiguracja eksperymentu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10698480" cy="4846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  <a:defRPr sz="2000"/>
            </a:pPr>
            <a:r>
              <a:t>Populacja: 20 osobników</a:t>
            </a:r>
          </a:p>
          <a:p>
            <a:pPr>
              <a:spcAft>
                <a:spcPts val="1200"/>
              </a:spcAft>
              <a:defRPr sz="2000"/>
            </a:pPr>
            <a:r>
              <a:t>50 epok, n_limits=15</a:t>
            </a:r>
          </a:p>
          <a:p>
            <a:pPr>
              <a:spcAft>
                <a:spcPts val="1200"/>
              </a:spcAft>
              <a:defRPr sz="2000"/>
            </a:pPr>
            <a:r>
              <a:t>5 niezależnych powtórzeń</a:t>
            </a:r>
          </a:p>
          <a:p>
            <a:pPr>
              <a:spcAft>
                <a:spcPts val="1200"/>
              </a:spcAft>
              <a:defRPr sz="2000"/>
            </a:pPr>
            <a:r>
              <a:t>Stałe seedy dla porównywalności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/>
            </a:pPr>
            <a:r>
              <a:t>Zbieżność Ackley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5577840" cy="4846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  <a:defRPr sz="2000"/>
            </a:pPr>
            <a:r>
              <a:t>ABC i GA porównano przy tej samej liczbie epok i osobników.</a:t>
            </a:r>
          </a:p>
        </p:txBody>
      </p:sp>
      <p:pic>
        <p:nvPicPr>
          <p:cNvPr id="4" name="Picture 3" descr="convergence_ackley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0" y="1371600"/>
            <a:ext cx="5029200" cy="2794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/>
            </a:pPr>
            <a:r>
              <a:t>Zbieżność CEC2014 F3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5577840" cy="4846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  <a:defRPr sz="2000"/>
            </a:pPr>
            <a:r>
              <a:t>Funkcja wielowymiarowa o trudnym krajobrazie celu.</a:t>
            </a:r>
          </a:p>
        </p:txBody>
      </p:sp>
      <p:pic>
        <p:nvPicPr>
          <p:cNvPr id="4" name="Picture 3" descr="convergence_cec2014_f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0" y="1371600"/>
            <a:ext cx="5029200" cy="2794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/>
            </a:pPr>
            <a:r>
              <a:t>ABC kontra P1/P2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5577840" cy="4846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  <a:defRPr sz="2000"/>
            </a:pPr>
            <a:r>
              <a:t>Porównanie wykonano na wspólnych funkcjach i seedach.</a:t>
            </a:r>
          </a:p>
          <a:p>
            <a:pPr>
              <a:spcAft>
                <a:spcPts val="1200"/>
              </a:spcAft>
              <a:defRPr sz="2000"/>
            </a:pPr>
            <a:r>
              <a:t>Uwzględniono jakość rozwiązania oraz czas obliczeń.</a:t>
            </a:r>
          </a:p>
        </p:txBody>
      </p:sp>
      <p:pic>
        <p:nvPicPr>
          <p:cNvPr id="4" name="Picture 3" descr="comparison_p1_p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0" y="1371600"/>
            <a:ext cx="5029200" cy="20955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/>
            </a:pPr>
            <a:r>
              <a:t>Wpływ konfiguracji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5577840" cy="4846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  <a:defRPr sz="2000"/>
            </a:pPr>
            <a:r>
              <a:t>Zmieniano populację, liczbę epok i n_limits.</a:t>
            </a:r>
          </a:p>
          <a:p>
            <a:pPr>
              <a:spcAft>
                <a:spcPts val="1200"/>
              </a:spcAft>
              <a:defRPr sz="2000"/>
            </a:pPr>
            <a:r>
              <a:t>Większa liczba epok zwykle poprawiała wynik kosztem czasu.</a:t>
            </a:r>
          </a:p>
        </p:txBody>
      </p:sp>
      <p:pic>
        <p:nvPicPr>
          <p:cNvPr id="4" name="Picture 3" descr="configurations_ab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0" y="1371600"/>
            <a:ext cx="5029200" cy="314325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/>
            </a:pPr>
            <a:r>
              <a:t>Wnioski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10698480" cy="4846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  <a:defRPr sz="2000"/>
            </a:pPr>
            <a:r>
              <a:t>ABC łączy eksplorację dzięki zwiadowcom z lokalnym przeszukiwaniem.</a:t>
            </a:r>
          </a:p>
          <a:p>
            <a:pPr>
              <a:spcAft>
                <a:spcPts val="1200"/>
              </a:spcAft>
              <a:defRPr sz="2000"/>
            </a:pPr>
            <a:r>
              <a:t>Na części benchmarków uzyskał lepsze wyniki niż GA.</a:t>
            </a:r>
          </a:p>
          <a:p>
            <a:pPr>
              <a:spcAft>
                <a:spcPts val="1200"/>
              </a:spcAft>
              <a:defRPr sz="2000"/>
            </a:pPr>
            <a:r>
              <a:t>GA bywa szybszy przy tej samej liczbie epok.</a:t>
            </a:r>
          </a:p>
          <a:p>
            <a:pPr>
              <a:spcAft>
                <a:spcPts val="1200"/>
              </a:spcAft>
              <a:defRPr sz="2000"/>
            </a:pPr>
            <a:r>
              <a:t>Najlepsza konfiguracja zależy od funkcji celu.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/>
            </a:pPr>
            <a:r>
              <a:t>Dziękuję za uwagę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10698480" cy="4846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  <a:defRPr sz="2000"/>
            </a:pPr>
            <a:r>
              <a:t>Kod, wyniki, sprawozdanie i prezentacja znajdują się w katalogu sprawozdanie_p4.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